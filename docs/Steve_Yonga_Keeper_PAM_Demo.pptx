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051560"/>
            <a:ext cx="106984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PAM Security Test Lab</a:t>
            </a:r>
          </a:p>
          <a:p>
            <a:pPr>
              <a:defRPr sz="2100">
                <a:solidFill>
                  <a:srgbClr val="C7D8EC"/>
                </a:solidFill>
              </a:defRPr>
            </a:pPr>
            <a:r>
              <a:t>Extending access-policy testing into temporary privileged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8" y="3154680"/>
            <a:ext cx="98755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Keeper Security — Senior SDET Demo</a:t>
            </a:r>
          </a:p>
          <a:p>
            <a:pPr>
              <a:defRPr sz="1600">
                <a:solidFill>
                  <a:srgbClr val="C7D8EC"/>
                </a:solidFill>
              </a:defRPr>
            </a:pPr>
            <a:r>
              <a:t>Steve Yonga  |  TypeScript • Node.js • PostgreSQL • Playwright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074920"/>
            <a:ext cx="9966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I built this around something familiar to me: users, access policies, API authorization, SQL validation, and automated testing.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21F34"/>
                </a:solidFill>
              </a:defRPr>
            </a:pPr>
            <a:r>
              <a:t>1. Where the Idea Came From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6868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46C77"/>
                </a:solidFill>
              </a:defRPr>
            </a:pPr>
            <a:r>
              <a:t>This project builds on access-control testing I already did at WebstaurantStore.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5212080" cy="1874519"/>
          </a:xfrm>
          <a:prstGeom prst="roundRect">
            <a:avLst/>
          </a:prstGeom>
          <a:solidFill>
            <a:srgbClr val="F5F7FA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417320"/>
            <a:ext cx="73152" cy="1874519"/>
          </a:xfrm>
          <a:prstGeom prst="rect">
            <a:avLst/>
          </a:prstGeom>
          <a:solidFill>
            <a:srgbClr val="2F6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554480"/>
            <a:ext cx="48463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1F34"/>
                </a:solidFill>
              </a:defRPr>
            </a:pPr>
            <a:r>
              <a:t>What I already worked with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1984248"/>
            <a:ext cx="4828032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72D36"/>
                </a:solidFill>
              </a:defRPr>
            </a:pPr>
            <a:r>
              <a:t>At WebstaurantStore, we had users and access policies such as Read-only, Digital Content, 3D Data, and Pricing Data. I tested that users could do what their policy allowed and were blocked from things they were not allowed to do.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417320"/>
            <a:ext cx="5212080" cy="1874519"/>
          </a:xfrm>
          <a:prstGeom prst="roundRect">
            <a:avLst/>
          </a:prstGeom>
          <a:solidFill>
            <a:srgbClr val="F5F7FA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417320"/>
            <a:ext cx="73152" cy="1874519"/>
          </a:xfrm>
          <a:prstGeom prst="rect">
            <a:avLst/>
          </a:prstGeom>
          <a:solidFill>
            <a:srgbClr val="DC8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0528" y="1554480"/>
            <a:ext cx="48463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1F34"/>
                </a:solidFill>
              </a:defRPr>
            </a:pPr>
            <a:r>
              <a:t>What was different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0528" y="1984248"/>
            <a:ext cx="4828032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72D36"/>
                </a:solidFill>
              </a:defRPr>
            </a:pPr>
            <a:r>
              <a:t>We did not have the temporary-access flow I built here — request elevated access, get an admin approval, use it for a limited time, then lose it through revocation or expiration.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828800" y="3977639"/>
            <a:ext cx="8503920" cy="1325880"/>
          </a:xfrm>
          <a:prstGeom prst="roundRect">
            <a:avLst/>
          </a:prstGeom>
          <a:solidFill>
            <a:srgbClr val="F5F7FA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828800" y="3977639"/>
            <a:ext cx="73152" cy="1325880"/>
          </a:xfrm>
          <a:prstGeom prst="rect">
            <a:avLst/>
          </a:prstGeom>
          <a:solidFill>
            <a:srgbClr val="1F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029968" y="4114800"/>
            <a:ext cx="81381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1F34"/>
                </a:solidFill>
              </a:defRPr>
            </a:pPr>
            <a:r>
              <a:t>Why I built this lab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29968" y="4544568"/>
            <a:ext cx="81198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72D36"/>
                </a:solidFill>
              </a:defRPr>
            </a:pPr>
            <a:r>
              <a:t>I wanted to take the access-control testing I already understood and extend it into PAM concepts that are directly relevant to this role.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6473952"/>
            <a:ext cx="10972800" cy="18288"/>
          </a:xfrm>
          <a:prstGeom prst="rect">
            <a:avLst/>
          </a:prstGeom>
          <a:solidFill>
            <a:srgbClr val="DCE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89920" y="6510528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C77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21F34"/>
                </a:solidFill>
              </a:defRPr>
            </a:pPr>
            <a:r>
              <a:t>2. What I Built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3474720" cy="1600200"/>
          </a:xfrm>
          <a:prstGeom prst="roundRect">
            <a:avLst/>
          </a:prstGeom>
          <a:solidFill>
            <a:srgbClr val="F5F7FA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73152" cy="1600200"/>
          </a:xfrm>
          <a:prstGeom prst="rect">
            <a:avLst/>
          </a:prstGeom>
          <a:solidFill>
            <a:srgbClr val="2F6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1508760"/>
            <a:ext cx="31089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1F34"/>
                </a:solidFill>
              </a:defRPr>
            </a:pPr>
            <a:r>
              <a:t>Authentication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1938528"/>
            <a:ext cx="3090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72D36"/>
                </a:solidFill>
              </a:defRPr>
            </a:pPr>
            <a:r>
              <a:t>Users log in and receive a JWT. Passwords are hashed with bcrypt.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0832" y="1371600"/>
            <a:ext cx="3474720" cy="1600200"/>
          </a:xfrm>
          <a:prstGeom prst="roundRect">
            <a:avLst/>
          </a:prstGeom>
          <a:solidFill>
            <a:srgbClr val="F5F7FA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70832" y="1371600"/>
            <a:ext cx="73152" cy="1600200"/>
          </a:xfrm>
          <a:prstGeom prst="rect">
            <a:avLst/>
          </a:prstGeom>
          <a:solidFill>
            <a:srgbClr val="1F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508760"/>
            <a:ext cx="31089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1F34"/>
                </a:solidFill>
              </a:defRPr>
            </a:pPr>
            <a:r>
              <a:t>Normal Access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938528"/>
            <a:ext cx="3090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72D36"/>
                </a:solidFill>
              </a:defRPr>
            </a:pPr>
            <a:r>
              <a:t>Steve starts with READ_ONLY. His normal permissions come from assigned policies.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01583" y="1371600"/>
            <a:ext cx="3474720" cy="1600200"/>
          </a:xfrm>
          <a:prstGeom prst="roundRect">
            <a:avLst/>
          </a:prstGeom>
          <a:solidFill>
            <a:srgbClr val="F5F7FA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01583" y="1371600"/>
            <a:ext cx="73152" cy="1600200"/>
          </a:xfrm>
          <a:prstGeom prst="rect">
            <a:avLst/>
          </a:prstGeom>
          <a:solidFill>
            <a:srgbClr val="DC8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02752" y="1508760"/>
            <a:ext cx="31089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1F34"/>
                </a:solidFill>
              </a:defRPr>
            </a:pPr>
            <a:r>
              <a:t>Temporary Access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02752" y="1938528"/>
            <a:ext cx="3090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72D36"/>
                </a:solidFill>
              </a:defRPr>
            </a:pPr>
            <a:r>
              <a:t>Steve can request PRICING_DATA, but an Admin has to approve it.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600200" y="3703320"/>
            <a:ext cx="4069080" cy="1508760"/>
          </a:xfrm>
          <a:prstGeom prst="roundRect">
            <a:avLst/>
          </a:prstGeom>
          <a:solidFill>
            <a:srgbClr val="F5F7FA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600200" y="3703320"/>
            <a:ext cx="73152" cy="1508760"/>
          </a:xfrm>
          <a:prstGeom prst="rect">
            <a:avLst/>
          </a:prstGeom>
          <a:solidFill>
            <a:srgbClr val="BE43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801368" y="3840480"/>
            <a:ext cx="37033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1F34"/>
                </a:solidFill>
              </a:defRPr>
            </a:pPr>
            <a:r>
              <a:t>Security Controls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01368" y="4270248"/>
            <a:ext cx="3685032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72D36"/>
                </a:solidFill>
              </a:defRPr>
            </a:pPr>
            <a:r>
              <a:t>The temporary grant can expire automatically or be revoked early.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46520" y="3703320"/>
            <a:ext cx="4069080" cy="1508760"/>
          </a:xfrm>
          <a:prstGeom prst="roundRect">
            <a:avLst/>
          </a:prstGeom>
          <a:solidFill>
            <a:srgbClr val="F5F7FA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46520" y="3703320"/>
            <a:ext cx="73152" cy="1508760"/>
          </a:xfrm>
          <a:prstGeom prst="rect">
            <a:avLst/>
          </a:prstGeom>
          <a:solidFill>
            <a:srgbClr val="329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47688" y="3840480"/>
            <a:ext cx="37033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1F34"/>
                </a:solidFill>
              </a:defRPr>
            </a:pPr>
            <a:r>
              <a:t>My Validation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47688" y="4270248"/>
            <a:ext cx="3685032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72D36"/>
                </a:solidFill>
              </a:defRPr>
            </a:pPr>
            <a:r>
              <a:t>I check the API response, the PostgreSQL data, and the audit trail.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" y="6473952"/>
            <a:ext cx="10972800" cy="18288"/>
          </a:xfrm>
          <a:prstGeom prst="rect">
            <a:avLst/>
          </a:prstGeom>
          <a:solidFill>
            <a:srgbClr val="DCE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789920" y="6510528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C77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21F34"/>
                </a:solidFill>
              </a:defRPr>
            </a:pPr>
            <a:r>
              <a:t>3. How the Pieces Work Together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828800"/>
            <a:ext cx="2057400" cy="1417320"/>
          </a:xfrm>
          <a:prstGeom prst="roundRect">
            <a:avLst/>
          </a:prstGeom>
          <a:solidFill>
            <a:srgbClr val="F5F7FA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828800"/>
            <a:ext cx="73152" cy="1417320"/>
          </a:xfrm>
          <a:prstGeom prst="rect">
            <a:avLst/>
          </a:prstGeom>
          <a:solidFill>
            <a:srgbClr val="2F6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1965960"/>
            <a:ext cx="16916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1F34"/>
                </a:solidFill>
              </a:defRPr>
            </a:pPr>
            <a:r>
              <a:t>Playwright / Client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" y="2395728"/>
            <a:ext cx="1673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72D36"/>
                </a:solidFill>
              </a:defRPr>
            </a:pPr>
            <a:r>
              <a:t>Logs in, requests access, calls protected APIs.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63240" y="1828800"/>
            <a:ext cx="2057400" cy="1417320"/>
          </a:xfrm>
          <a:prstGeom prst="roundRect">
            <a:avLst/>
          </a:prstGeom>
          <a:solidFill>
            <a:srgbClr val="F5F7FA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063240" y="1828800"/>
            <a:ext cx="73152" cy="1417320"/>
          </a:xfrm>
          <a:prstGeom prst="rect">
            <a:avLst/>
          </a:prstGeom>
          <a:solidFill>
            <a:srgbClr val="1F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64408" y="1965960"/>
            <a:ext cx="16916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1F34"/>
                </a:solidFill>
              </a:defRPr>
            </a:pPr>
            <a:r>
              <a:t>Express API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64408" y="2395728"/>
            <a:ext cx="1673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72D36"/>
                </a:solidFill>
              </a:defRPr>
            </a:pPr>
            <a:r>
              <a:t>Handles authentication and protected endpoints.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23560" y="1828800"/>
            <a:ext cx="2057400" cy="1417320"/>
          </a:xfrm>
          <a:prstGeom prst="roundRect">
            <a:avLst/>
          </a:prstGeom>
          <a:solidFill>
            <a:srgbClr val="F5F7FA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23560" y="1828800"/>
            <a:ext cx="73152" cy="1417320"/>
          </a:xfrm>
          <a:prstGeom prst="rect">
            <a:avLst/>
          </a:prstGeom>
          <a:solidFill>
            <a:srgbClr val="DC8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24728" y="1965960"/>
            <a:ext cx="16916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1F34"/>
                </a:solidFill>
              </a:defRPr>
            </a:pPr>
            <a:r>
              <a:t>Authorization Check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24728" y="2395728"/>
            <a:ext cx="1673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72D36"/>
                </a:solidFill>
              </a:defRPr>
            </a:pPr>
            <a:r>
              <a:t>Looks at Steve's current policy and PAM access.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3879" y="1828800"/>
            <a:ext cx="3429000" cy="1417320"/>
          </a:xfrm>
          <a:prstGeom prst="roundRect">
            <a:avLst/>
          </a:prstGeom>
          <a:solidFill>
            <a:srgbClr val="F5F7FA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83879" y="1828800"/>
            <a:ext cx="73152" cy="1417320"/>
          </a:xfrm>
          <a:prstGeom prst="rect">
            <a:avLst/>
          </a:prstGeom>
          <a:solidFill>
            <a:srgbClr val="329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85048" y="1965960"/>
            <a:ext cx="3063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1F34"/>
                </a:solidFill>
              </a:defRPr>
            </a:pPr>
            <a:r>
              <a:t>PostgreSQL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5048" y="2395728"/>
            <a:ext cx="30449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72D36"/>
                </a:solidFill>
              </a:defRPr>
            </a:pPr>
            <a:r>
              <a:t>Stores users, policies, temporary access, products, and audit events.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828800" y="4160520"/>
            <a:ext cx="8458200" cy="1234440"/>
          </a:xfrm>
          <a:prstGeom prst="roundRect">
            <a:avLst/>
          </a:prstGeom>
          <a:solidFill>
            <a:srgbClr val="F5F7FA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828800" y="4160520"/>
            <a:ext cx="73152" cy="1234440"/>
          </a:xfrm>
          <a:prstGeom prst="rect">
            <a:avLst/>
          </a:prstGeom>
          <a:solidFill>
            <a:srgbClr val="BE43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029968" y="4297680"/>
            <a:ext cx="80924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1F34"/>
                </a:solidFill>
              </a:defRPr>
            </a:pPr>
            <a:r>
              <a:t>One design choice I wanted to prove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29968" y="4727448"/>
            <a:ext cx="8074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72D36"/>
                </a:solidFill>
              </a:defRPr>
            </a:pPr>
            <a:r>
              <a:t>The JWT tells the API who Steve is. I do not store his temporary privilege in the token. The API checks the database again when he performs a privileged action, so revocation or expiration can take effect right away.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" y="6473952"/>
            <a:ext cx="10972800" cy="18288"/>
          </a:xfrm>
          <a:prstGeom prst="rect">
            <a:avLst/>
          </a:prstGeom>
          <a:solidFill>
            <a:srgbClr val="DCE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789920" y="6510528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C77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21F34"/>
                </a:solidFill>
              </a:defRPr>
            </a:pPr>
            <a:r>
              <a:t>4. RBAC + Temporary Privileged Access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3383280" cy="1234440"/>
          </a:xfrm>
          <a:prstGeom prst="roundRect">
            <a:avLst/>
          </a:prstGeom>
          <a:solidFill>
            <a:srgbClr val="F5F7FA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417320"/>
            <a:ext cx="73152" cy="1234440"/>
          </a:xfrm>
          <a:prstGeom prst="rect">
            <a:avLst/>
          </a:prstGeom>
          <a:solidFill>
            <a:srgbClr val="2F6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1554480"/>
            <a:ext cx="30175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1F34"/>
                </a:solidFill>
              </a:defRPr>
            </a:pPr>
            <a:r>
              <a:t>Steve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1984248"/>
            <a:ext cx="299923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72D36"/>
                </a:solidFill>
              </a:defRPr>
            </a:pPr>
            <a:r>
              <a:t>Starts with READ_ONLY. He does not normally have pricing access.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07408" y="1417320"/>
            <a:ext cx="3383280" cy="1234440"/>
          </a:xfrm>
          <a:prstGeom prst="roundRect">
            <a:avLst/>
          </a:prstGeom>
          <a:solidFill>
            <a:srgbClr val="F5F7FA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07408" y="1417320"/>
            <a:ext cx="73152" cy="1234440"/>
          </a:xfrm>
          <a:prstGeom prst="rect">
            <a:avLst/>
          </a:prstGeom>
          <a:solidFill>
            <a:srgbClr val="1F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08576" y="1554480"/>
            <a:ext cx="30175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1F34"/>
                </a:solidFill>
              </a:defRPr>
            </a:pPr>
            <a:r>
              <a:t>Admin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08576" y="1984248"/>
            <a:ext cx="299923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72D36"/>
                </a:solidFill>
              </a:defRPr>
            </a:pPr>
            <a:r>
              <a:t>Has ADMIN access and can approve or revoke Steve's request.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29016" y="1417320"/>
            <a:ext cx="3383280" cy="1234440"/>
          </a:xfrm>
          <a:prstGeom prst="roundRect">
            <a:avLst/>
          </a:prstGeom>
          <a:solidFill>
            <a:srgbClr val="F5F7FA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29016" y="1417320"/>
            <a:ext cx="73152" cy="1234440"/>
          </a:xfrm>
          <a:prstGeom prst="rect">
            <a:avLst/>
          </a:prstGeom>
          <a:solidFill>
            <a:srgbClr val="DC8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30184" y="1554480"/>
            <a:ext cx="30175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1F34"/>
                </a:solidFill>
              </a:defRPr>
            </a:pPr>
            <a:r>
              <a:t>PRICING_DATA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0184" y="1984248"/>
            <a:ext cx="299923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72D36"/>
                </a:solidFill>
              </a:defRPr>
            </a:pPr>
            <a:r>
              <a:t>This is the protected permission I use for the demo.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154680"/>
            <a:ext cx="10241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72D36"/>
                </a:solidFill>
              </a:defRPr>
            </a:pPr>
            <a:r>
              <a:t>• Steve can request elevated access, but he cannot approve his own request.</a:t>
            </a:r>
          </a:p>
          <a:p>
            <a:pPr>
              <a:spcAft>
                <a:spcPts val="1000"/>
              </a:spcAft>
              <a:defRPr sz="1700">
                <a:solidFill>
                  <a:srgbClr val="272D36"/>
                </a:solidFill>
              </a:defRPr>
            </a:pPr>
            <a:r>
              <a:t>• Once approved, PRICING_DATA is temporary instead of becoming a permanent policy.</a:t>
            </a:r>
          </a:p>
          <a:p>
            <a:pPr>
              <a:spcAft>
                <a:spcPts val="1000"/>
              </a:spcAft>
              <a:defRPr sz="1700">
                <a:solidFill>
                  <a:srgbClr val="272D36"/>
                </a:solidFill>
              </a:defRPr>
            </a:pPr>
            <a:r>
              <a:t>• I keep REVOKED and EXPIRED as separate states so the audit trail tells me what actually happened.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6473952"/>
            <a:ext cx="10972800" cy="18288"/>
          </a:xfrm>
          <a:prstGeom prst="rect">
            <a:avLst/>
          </a:prstGeom>
          <a:solidFill>
            <a:srgbClr val="DCE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89920" y="6510528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C77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21F34"/>
                </a:solidFill>
              </a:defRPr>
            </a:pPr>
            <a:r>
              <a:t>5. The Demo I Will Show</a:t>
            </a:r>
          </a:p>
        </p:txBody>
      </p:sp>
      <p:sp>
        <p:nvSpPr>
          <p:cNvPr id="4" name="Oval 3"/>
          <p:cNvSpPr/>
          <p:nvPr/>
        </p:nvSpPr>
        <p:spPr>
          <a:xfrm>
            <a:off x="822960" y="1298448"/>
            <a:ext cx="502920" cy="502920"/>
          </a:xfrm>
          <a:prstGeom prst="ellipse">
            <a:avLst/>
          </a:prstGeom>
          <a:solidFill>
            <a:srgbClr val="2F6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1280160"/>
            <a:ext cx="969264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72D36"/>
                </a:solidFill>
              </a:defRPr>
            </a:pPr>
            <a:r>
              <a:t>Steve logs in and gets a valid JWT.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2011680"/>
            <a:ext cx="502920" cy="502920"/>
          </a:xfrm>
          <a:prstGeom prst="ellipse">
            <a:avLst/>
          </a:prstGeom>
          <a:solidFill>
            <a:srgbClr val="BE43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993392"/>
            <a:ext cx="969264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72D36"/>
                </a:solidFill>
              </a:defRPr>
            </a:pPr>
            <a:r>
              <a:t>He tries to update pricing with READ_ONLY access → 403.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2724912"/>
            <a:ext cx="502920" cy="502920"/>
          </a:xfrm>
          <a:prstGeom prst="ellipse">
            <a:avLst/>
          </a:prstGeom>
          <a:solidFill>
            <a:srgbClr val="DC8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706624"/>
            <a:ext cx="969264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72D36"/>
                </a:solidFill>
              </a:defRPr>
            </a:pPr>
            <a:r>
              <a:t>He requests PRICING_DATA → PENDING.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3438144"/>
            <a:ext cx="502920" cy="502920"/>
          </a:xfrm>
          <a:prstGeom prst="ellipse">
            <a:avLst/>
          </a:prstGeom>
          <a:solidFill>
            <a:srgbClr val="1F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3419856"/>
            <a:ext cx="969264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72D36"/>
                </a:solidFill>
              </a:defRPr>
            </a:pPr>
            <a:r>
              <a:t>Admin approves the request → ACTIVE with an expiration.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4151376"/>
            <a:ext cx="502920" cy="502920"/>
          </a:xfrm>
          <a:prstGeom prst="ellipse">
            <a:avLst/>
          </a:prstGeom>
          <a:solidFill>
            <a:srgbClr val="329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4133088"/>
            <a:ext cx="969264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72D36"/>
                </a:solidFill>
              </a:defRPr>
            </a:pPr>
            <a:r>
              <a:t>Steve uses the same JWT and updates pricing → 200.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" y="4864608"/>
            <a:ext cx="502920" cy="502920"/>
          </a:xfrm>
          <a:prstGeom prst="ellipse">
            <a:avLst/>
          </a:prstGeom>
          <a:solidFill>
            <a:srgbClr val="DC8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4846320"/>
            <a:ext cx="969264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72D36"/>
                </a:solidFill>
              </a:defRPr>
            </a:pPr>
            <a:r>
              <a:t>Admin revokes the temporary access.</a:t>
            </a:r>
          </a:p>
        </p:txBody>
      </p:sp>
      <p:sp>
        <p:nvSpPr>
          <p:cNvPr id="16" name="Oval 15"/>
          <p:cNvSpPr/>
          <p:nvPr/>
        </p:nvSpPr>
        <p:spPr>
          <a:xfrm>
            <a:off x="822960" y="5577840"/>
            <a:ext cx="502920" cy="502920"/>
          </a:xfrm>
          <a:prstGeom prst="ellipse">
            <a:avLst/>
          </a:prstGeom>
          <a:solidFill>
            <a:srgbClr val="BE43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5559552"/>
            <a:ext cx="969264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72D36"/>
                </a:solidFill>
              </a:defRPr>
            </a:pPr>
            <a:r>
              <a:t>Steve uses the same valid JWT again → 403.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6473952"/>
            <a:ext cx="10972800" cy="18288"/>
          </a:xfrm>
          <a:prstGeom prst="rect">
            <a:avLst/>
          </a:prstGeom>
          <a:solidFill>
            <a:srgbClr val="DCE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789920" y="6510528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C77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21F34"/>
                </a:solidFill>
              </a:defRPr>
            </a:pPr>
            <a:r>
              <a:t>6. What I Test with Playwright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3429000" cy="1417320"/>
          </a:xfrm>
          <a:prstGeom prst="roundRect">
            <a:avLst/>
          </a:prstGeom>
          <a:solidFill>
            <a:srgbClr val="F5F7FA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325880"/>
            <a:ext cx="73152" cy="1417320"/>
          </a:xfrm>
          <a:prstGeom prst="rect">
            <a:avLst/>
          </a:prstGeom>
          <a:solidFill>
            <a:srgbClr val="2F6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1463039"/>
            <a:ext cx="3063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1F34"/>
                </a:solidFill>
              </a:defRPr>
            </a:pPr>
            <a:r>
              <a:t>Authentication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1892807"/>
            <a:ext cx="30449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72D36"/>
                </a:solidFill>
              </a:defRPr>
            </a:pPr>
            <a:r>
              <a:t>No token, invalid token, and bad credentials all return the expected 401 response.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25880"/>
            <a:ext cx="3429000" cy="1417320"/>
          </a:xfrm>
          <a:prstGeom prst="roundRect">
            <a:avLst/>
          </a:prstGeom>
          <a:solidFill>
            <a:srgbClr val="F5F7FA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0" y="1325880"/>
            <a:ext cx="73152" cy="1417320"/>
          </a:xfrm>
          <a:prstGeom prst="rect">
            <a:avLst/>
          </a:prstGeom>
          <a:solidFill>
            <a:srgbClr val="BE43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0288" y="1463039"/>
            <a:ext cx="3063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1F34"/>
                </a:solidFill>
              </a:defRPr>
            </a:pPr>
            <a:r>
              <a:t>Authorization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0288" y="1892807"/>
            <a:ext cx="30449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72D36"/>
                </a:solidFill>
              </a:defRPr>
            </a:pPr>
            <a:r>
              <a:t>A valid Steve token still gets 403 when he does not have PRICING_DATA.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325880"/>
            <a:ext cx="3429000" cy="1417320"/>
          </a:xfrm>
          <a:prstGeom prst="roundRect">
            <a:avLst/>
          </a:prstGeom>
          <a:solidFill>
            <a:srgbClr val="F5F7FA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92440" y="1325880"/>
            <a:ext cx="73152" cy="1417320"/>
          </a:xfrm>
          <a:prstGeom prst="rect">
            <a:avLst/>
          </a:prstGeom>
          <a:solidFill>
            <a:srgbClr val="DC8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93608" y="1463039"/>
            <a:ext cx="3063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1F34"/>
                </a:solidFill>
              </a:defRPr>
            </a:pPr>
            <a:r>
              <a:t>Separation of Duties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93608" y="1892807"/>
            <a:ext cx="30449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72D36"/>
                </a:solidFill>
              </a:defRPr>
            </a:pPr>
            <a:r>
              <a:t>Steve cannot approve his own privileged-access request.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645920" y="3337560"/>
            <a:ext cx="4160520" cy="1417320"/>
          </a:xfrm>
          <a:prstGeom prst="roundRect">
            <a:avLst/>
          </a:prstGeom>
          <a:solidFill>
            <a:srgbClr val="F5F7FA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645920" y="3337560"/>
            <a:ext cx="73152" cy="1417320"/>
          </a:xfrm>
          <a:prstGeom prst="rect">
            <a:avLst/>
          </a:prstGeom>
          <a:solidFill>
            <a:srgbClr val="1F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847088" y="3474720"/>
            <a:ext cx="379475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1F34"/>
                </a:solidFill>
              </a:defRPr>
            </a:pPr>
            <a:r>
              <a:t>PAM Lifecycle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47088" y="3904487"/>
            <a:ext cx="37764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72D36"/>
                </a:solidFill>
              </a:defRPr>
            </a:pPr>
            <a:r>
              <a:t>Request → approve → use → revoke → denied again.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55080" y="3337560"/>
            <a:ext cx="4160520" cy="1417320"/>
          </a:xfrm>
          <a:prstGeom prst="roundRect">
            <a:avLst/>
          </a:prstGeom>
          <a:solidFill>
            <a:srgbClr val="F5F7FA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55080" y="3337560"/>
            <a:ext cx="73152" cy="1417320"/>
          </a:xfrm>
          <a:prstGeom prst="rect">
            <a:avLst/>
          </a:prstGeom>
          <a:solidFill>
            <a:srgbClr val="329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56248" y="3474720"/>
            <a:ext cx="379475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1F34"/>
                </a:solidFill>
              </a:defRPr>
            </a:pPr>
            <a:r>
              <a:t>Expiration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56248" y="3904487"/>
            <a:ext cx="37764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72D36"/>
                </a:solidFill>
              </a:defRPr>
            </a:pPr>
            <a:r>
              <a:t>Temporary access becomes EXPIRED and the same JWT is denied.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926080" y="5166360"/>
            <a:ext cx="6309360" cy="777240"/>
          </a:xfrm>
          <a:prstGeom prst="roundRect">
            <a:avLst/>
          </a:prstGeom>
          <a:solidFill>
            <a:srgbClr val="F5F7FA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926080" y="5166360"/>
            <a:ext cx="73152" cy="777240"/>
          </a:xfrm>
          <a:prstGeom prst="rect">
            <a:avLst/>
          </a:prstGeom>
          <a:solidFill>
            <a:srgbClr val="121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127248" y="5303520"/>
            <a:ext cx="5943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1F34"/>
                </a:solidFill>
              </a:defRPr>
            </a:pPr>
            <a:r>
              <a:t>How I validate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27248" y="5733288"/>
            <a:ext cx="5925312" cy="91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72D36"/>
                </a:solidFill>
              </a:defRPr>
            </a:pPr>
            <a:r>
              <a:t>I don't stop at the status code. I also check the database state and the audit event.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4360" y="6473952"/>
            <a:ext cx="10972800" cy="18288"/>
          </a:xfrm>
          <a:prstGeom prst="rect">
            <a:avLst/>
          </a:prstGeom>
          <a:solidFill>
            <a:srgbClr val="DCE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789920" y="6510528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C77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21F34"/>
                </a:solidFill>
              </a:defRPr>
            </a:pPr>
            <a:r>
              <a:t>7. 401 vs. 403 — A Small Detail That Matters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3429000" cy="1828800"/>
          </a:xfrm>
          <a:prstGeom prst="roundRect">
            <a:avLst/>
          </a:prstGeom>
          <a:solidFill>
            <a:srgbClr val="F5F7FA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508760"/>
            <a:ext cx="73152" cy="1828800"/>
          </a:xfrm>
          <a:prstGeom prst="rect">
            <a:avLst/>
          </a:prstGeom>
          <a:solidFill>
            <a:srgbClr val="BE43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645919"/>
            <a:ext cx="3063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1F34"/>
                </a:solidFill>
              </a:defRPr>
            </a:pPr>
            <a:r>
              <a:t>401 — No Authentication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075688"/>
            <a:ext cx="3044952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72D36"/>
                </a:solidFill>
              </a:defRPr>
            </a:pPr>
            <a:r>
              <a:t>No token or an invalid/expired token means the API cannot authenticate the caller.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508760"/>
            <a:ext cx="3429000" cy="1828800"/>
          </a:xfrm>
          <a:prstGeom prst="roundRect">
            <a:avLst/>
          </a:prstGeom>
          <a:solidFill>
            <a:srgbClr val="F5F7FA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0" y="1508760"/>
            <a:ext cx="73152" cy="1828800"/>
          </a:xfrm>
          <a:prstGeom prst="rect">
            <a:avLst/>
          </a:prstGeom>
          <a:solidFill>
            <a:srgbClr val="2F6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0288" y="1645919"/>
            <a:ext cx="3063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1F34"/>
                </a:solidFill>
              </a:defRPr>
            </a:pPr>
            <a:r>
              <a:t>403 — Not Authorized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0288" y="2075688"/>
            <a:ext cx="3044952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72D36"/>
                </a:solidFill>
              </a:defRPr>
            </a:pPr>
            <a:r>
              <a:t>The JWT is valid and the API knows this is Steve, but Steve does not currently have PRICING_DATA.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508760"/>
            <a:ext cx="3429000" cy="1828800"/>
          </a:xfrm>
          <a:prstGeom prst="roundRect">
            <a:avLst/>
          </a:prstGeom>
          <a:solidFill>
            <a:srgbClr val="F5F7FA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20" y="1508760"/>
            <a:ext cx="73152" cy="1828800"/>
          </a:xfrm>
          <a:prstGeom prst="rect">
            <a:avLst/>
          </a:prstGeom>
          <a:solidFill>
            <a:srgbClr val="329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47888" y="1645919"/>
            <a:ext cx="3063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1F34"/>
                </a:solidFill>
              </a:defRPr>
            </a:pPr>
            <a:r>
              <a:t>Why I Test the API Directly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47888" y="2075688"/>
            <a:ext cx="3044952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72D36"/>
                </a:solidFill>
              </a:defRPr>
            </a:pPr>
            <a:r>
              <a:t>Hiding a button in the UI is not enough. The backend still has to block a direct protected request.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103120" y="4251960"/>
            <a:ext cx="7955279" cy="1051560"/>
          </a:xfrm>
          <a:prstGeom prst="roundRect">
            <a:avLst/>
          </a:prstGeom>
          <a:solidFill>
            <a:srgbClr val="F5F7FA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103120" y="4251960"/>
            <a:ext cx="73152" cy="1051560"/>
          </a:xfrm>
          <a:prstGeom prst="rect">
            <a:avLst/>
          </a:prstGeom>
          <a:solidFill>
            <a:srgbClr val="1F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304288" y="4389120"/>
            <a:ext cx="758951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1F34"/>
                </a:solidFill>
              </a:defRPr>
            </a:pPr>
            <a:r>
              <a:t>How I explain 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818888"/>
            <a:ext cx="7571231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72D36"/>
                </a:solidFill>
              </a:defRPr>
            </a:pPr>
            <a:r>
              <a:t>401: “Who are you?”  •  403: “I know who you are, but you are not allowed to do this.”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6473952"/>
            <a:ext cx="10972800" cy="18288"/>
          </a:xfrm>
          <a:prstGeom prst="rect">
            <a:avLst/>
          </a:prstGeom>
          <a:solidFill>
            <a:srgbClr val="DCE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789920" y="6510528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C77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21F34"/>
                </a:solidFill>
              </a:defRPr>
            </a:pPr>
            <a:r>
              <a:t>8. Audit Trail — Proving What Happened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71600"/>
            <a:ext cx="2743200" cy="749808"/>
          </a:xfrm>
          <a:prstGeom prst="roundRect">
            <a:avLst/>
          </a:prstGeom>
          <a:solidFill>
            <a:srgbClr val="F5F7FA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371600"/>
            <a:ext cx="73152" cy="749808"/>
          </a:xfrm>
          <a:prstGeom prst="rect">
            <a:avLst/>
          </a:prstGeom>
          <a:solidFill>
            <a:srgbClr val="329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1508760"/>
            <a:ext cx="23774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1F34"/>
                </a:solidFill>
              </a:defRPr>
            </a:pPr>
            <a:r>
              <a:t>PRIVILEGE_REQUEST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1938528"/>
            <a:ext cx="2359152" cy="64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272D36"/>
                </a:solidFill>
              </a:defRPr>
            </a:pPr>
            <a:r>
              <a:t>Steve asks for PRICING_DATA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1545336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32915C"/>
                </a:solidFill>
              </a:defRPr>
            </a:pPr>
            <a:r>
              <a:t>SUCCESS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286000"/>
            <a:ext cx="2743200" cy="749808"/>
          </a:xfrm>
          <a:prstGeom prst="roundRect">
            <a:avLst/>
          </a:prstGeom>
          <a:solidFill>
            <a:srgbClr val="F5F7FA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2286000"/>
            <a:ext cx="73152" cy="749808"/>
          </a:xfrm>
          <a:prstGeom prst="rect">
            <a:avLst/>
          </a:prstGeom>
          <a:solidFill>
            <a:srgbClr val="329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2423160"/>
            <a:ext cx="23774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1F34"/>
                </a:solidFill>
              </a:defRPr>
            </a:pPr>
            <a:r>
              <a:t>PRIVILEGE_APPROVE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2852928"/>
            <a:ext cx="2359152" cy="64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272D36"/>
                </a:solidFill>
              </a:defRPr>
            </a:pPr>
            <a:r>
              <a:t>Admin approves the request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0" y="2459736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32915C"/>
                </a:solidFill>
              </a:defRPr>
            </a:pPr>
            <a:r>
              <a:t>SUCCESS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200400"/>
            <a:ext cx="2743200" cy="749808"/>
          </a:xfrm>
          <a:prstGeom prst="roundRect">
            <a:avLst/>
          </a:prstGeom>
          <a:solidFill>
            <a:srgbClr val="F5F7FA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3200400"/>
            <a:ext cx="73152" cy="749808"/>
          </a:xfrm>
          <a:prstGeom prst="rect">
            <a:avLst/>
          </a:prstGeom>
          <a:solidFill>
            <a:srgbClr val="329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6968" y="3337560"/>
            <a:ext cx="23774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1F34"/>
                </a:solidFill>
              </a:defRPr>
            </a:pPr>
            <a:r>
              <a:t>PRICING_UPDATE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" y="3767328"/>
            <a:ext cx="2359152" cy="64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272D36"/>
                </a:solidFill>
              </a:defRPr>
            </a:pPr>
            <a:r>
              <a:t>Steve performs the protected action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0" y="3374136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32915C"/>
                </a:solidFill>
              </a:defRPr>
            </a:pPr>
            <a:r>
              <a:t>SUCCESS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4114800"/>
            <a:ext cx="2743200" cy="749808"/>
          </a:xfrm>
          <a:prstGeom prst="roundRect">
            <a:avLst/>
          </a:prstGeom>
          <a:solidFill>
            <a:srgbClr val="F5F7FA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5800" y="4114800"/>
            <a:ext cx="73152" cy="749808"/>
          </a:xfrm>
          <a:prstGeom prst="rect">
            <a:avLst/>
          </a:prstGeom>
          <a:solidFill>
            <a:srgbClr val="329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68" y="4251960"/>
            <a:ext cx="23774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1F34"/>
                </a:solidFill>
              </a:defRPr>
            </a:pPr>
            <a:r>
              <a:t>PRIVILEGE_REVOKE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" y="4681728"/>
            <a:ext cx="2359152" cy="64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272D36"/>
                </a:solidFill>
              </a:defRPr>
            </a:pPr>
            <a:r>
              <a:t>Admin removes the temporary access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0" y="4288536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32915C"/>
                </a:solidFill>
              </a:defRPr>
            </a:pPr>
            <a:r>
              <a:t>SUCCESS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5029200"/>
            <a:ext cx="2743200" cy="749808"/>
          </a:xfrm>
          <a:prstGeom prst="roundRect">
            <a:avLst/>
          </a:prstGeom>
          <a:solidFill>
            <a:srgbClr val="F5F7FA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85800" y="5029200"/>
            <a:ext cx="73152" cy="749808"/>
          </a:xfrm>
          <a:prstGeom prst="rect">
            <a:avLst/>
          </a:prstGeom>
          <a:solidFill>
            <a:srgbClr val="BE43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6968" y="5166360"/>
            <a:ext cx="23774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1F34"/>
                </a:solidFill>
              </a:defRPr>
            </a:pPr>
            <a:r>
              <a:t>PRICING_UPDATE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968" y="5596128"/>
            <a:ext cx="2359152" cy="64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272D36"/>
                </a:solidFill>
              </a:defRPr>
            </a:pPr>
            <a:r>
              <a:t>Steve tries again after revocation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18320" y="5202936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BE4343"/>
                </a:solidFill>
              </a:defRPr>
            </a:pPr>
            <a:r>
              <a:t>DENIED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971800" y="5760720"/>
            <a:ext cx="6263640" cy="548640"/>
          </a:xfrm>
          <a:prstGeom prst="roundRect">
            <a:avLst/>
          </a:prstGeom>
          <a:solidFill>
            <a:srgbClr val="F5F7FA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971800" y="5760720"/>
            <a:ext cx="73152" cy="548640"/>
          </a:xfrm>
          <a:prstGeom prst="rect">
            <a:avLst/>
          </a:prstGeom>
          <a:solidFill>
            <a:srgbClr val="2F6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172968" y="5897880"/>
            <a:ext cx="589787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1F34"/>
                </a:solidFill>
              </a:defRPr>
            </a:pPr>
            <a:r>
              <a:t>My validation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172968" y="6327648"/>
            <a:ext cx="5879592" cy="-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72D36"/>
                </a:solidFill>
              </a:defRPr>
            </a:pPr>
            <a:r>
              <a:t>API result + database state + audit record gives me stronger evidence than checking only a response code.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4360" y="6473952"/>
            <a:ext cx="10972800" cy="18288"/>
          </a:xfrm>
          <a:prstGeom prst="rect">
            <a:avLst/>
          </a:prstGeom>
          <a:solidFill>
            <a:srgbClr val="DCE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789920" y="6510528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C77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21F34"/>
                </a:solidFill>
              </a:defRPr>
            </a:pPr>
            <a:r>
              <a:t>9. A Problem I Hit While Running the Tests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6868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46C77"/>
                </a:solidFill>
              </a:defRPr>
            </a:pPr>
            <a:r>
              <a:t>This was a good example of debugging the test environment, not changing assertions to make failures disappear.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3383280" cy="1554480"/>
          </a:xfrm>
          <a:prstGeom prst="roundRect">
            <a:avLst/>
          </a:prstGeom>
          <a:solidFill>
            <a:srgbClr val="F5F7FA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417320"/>
            <a:ext cx="73152" cy="1554480"/>
          </a:xfrm>
          <a:prstGeom prst="rect">
            <a:avLst/>
          </a:prstGeom>
          <a:solidFill>
            <a:srgbClr val="BE43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554480"/>
            <a:ext cx="30175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1F34"/>
                </a:solidFill>
              </a:defRPr>
            </a:pPr>
            <a:r>
              <a:t>What I saw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1984248"/>
            <a:ext cx="299923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72D36"/>
                </a:solidFill>
              </a:defRPr>
            </a:pPr>
            <a:r>
              <a:t>Each test passed by itself, but parallel execution caused inconsistent failures.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07408" y="1417320"/>
            <a:ext cx="3383280" cy="1554480"/>
          </a:xfrm>
          <a:prstGeom prst="roundRect">
            <a:avLst/>
          </a:prstGeom>
          <a:solidFill>
            <a:srgbClr val="F5F7FA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07408" y="1417320"/>
            <a:ext cx="73152" cy="1554480"/>
          </a:xfrm>
          <a:prstGeom prst="rect">
            <a:avLst/>
          </a:prstGeom>
          <a:solidFill>
            <a:srgbClr val="DC8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08576" y="1554480"/>
            <a:ext cx="30175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1F34"/>
                </a:solidFill>
              </a:defRPr>
            </a:pPr>
            <a:r>
              <a:t>What I found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08576" y="1984248"/>
            <a:ext cx="299923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72D36"/>
                </a:solidFill>
              </a:defRPr>
            </a:pPr>
            <a:r>
              <a:t>The tests shared Steve, PRICING_DATA, product 100, and the same database records.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29016" y="1417320"/>
            <a:ext cx="3383280" cy="1554480"/>
          </a:xfrm>
          <a:prstGeom prst="roundRect">
            <a:avLst/>
          </a:prstGeom>
          <a:solidFill>
            <a:srgbClr val="F5F7FA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29016" y="1417320"/>
            <a:ext cx="73152" cy="1554480"/>
          </a:xfrm>
          <a:prstGeom prst="rect">
            <a:avLst/>
          </a:prstGeom>
          <a:solidFill>
            <a:srgbClr val="329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0184" y="1554480"/>
            <a:ext cx="30175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1F34"/>
                </a:solidFill>
              </a:defRPr>
            </a:pPr>
            <a:r>
              <a:t>What I did for this lab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0184" y="1984248"/>
            <a:ext cx="299923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72D36"/>
                </a:solidFill>
              </a:defRPr>
            </a:pPr>
            <a:r>
              <a:t>I used one Playwright worker so these stateful integration tests run in a predictable order.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828800" y="3840480"/>
            <a:ext cx="8503920" cy="1325880"/>
          </a:xfrm>
          <a:prstGeom prst="roundRect">
            <a:avLst/>
          </a:prstGeom>
          <a:solidFill>
            <a:srgbClr val="F5F7FA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828800" y="3840480"/>
            <a:ext cx="73152" cy="1325880"/>
          </a:xfrm>
          <a:prstGeom prst="rect">
            <a:avLst/>
          </a:prstGeom>
          <a:solidFill>
            <a:srgbClr val="1F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029968" y="3977640"/>
            <a:ext cx="81381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1F34"/>
                </a:solidFill>
              </a:defRPr>
            </a:pPr>
            <a:r>
              <a:t>How I would scale 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29968" y="4407408"/>
            <a:ext cx="81198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72D36"/>
                </a:solidFill>
              </a:defRPr>
            </a:pPr>
            <a:r>
              <a:t>For a larger suite, I would create unique users, products, and privilege records per test and clean them up afterward. That would let me safely bring parallel execution back.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6473952"/>
            <a:ext cx="10972800" cy="18288"/>
          </a:xfrm>
          <a:prstGeom prst="rect">
            <a:avLst/>
          </a:prstGeom>
          <a:solidFill>
            <a:srgbClr val="DCE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789920" y="6510528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C77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10. What I Took Away From This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3429000" cy="1554480"/>
          </a:xfrm>
          <a:prstGeom prst="roundRect">
            <a:avLst/>
          </a:prstGeom>
          <a:solidFill>
            <a:srgbClr val="F5F7FA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73152" cy="1554480"/>
          </a:xfrm>
          <a:prstGeom prst="rect">
            <a:avLst/>
          </a:prstGeom>
          <a:solidFill>
            <a:srgbClr val="2F6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554480"/>
            <a:ext cx="3063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1F34"/>
                </a:solidFill>
              </a:defRPr>
            </a:pPr>
            <a:r>
              <a:t>Built on Real Experience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1984248"/>
            <a:ext cx="304495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72D36"/>
                </a:solidFill>
              </a:defRPr>
            </a:pPr>
            <a:r>
              <a:t>Users, access policies, authorization testing, APIs, SQL, and automation were already familiar to me.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17320"/>
            <a:ext cx="3429000" cy="1554480"/>
          </a:xfrm>
          <a:prstGeom prst="roundRect">
            <a:avLst/>
          </a:prstGeom>
          <a:solidFill>
            <a:srgbClr val="F5F7FA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0" y="1417320"/>
            <a:ext cx="73152" cy="1554480"/>
          </a:xfrm>
          <a:prstGeom prst="rect">
            <a:avLst/>
          </a:prstGeom>
          <a:solidFill>
            <a:srgbClr val="DC8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0288" y="1554480"/>
            <a:ext cx="3063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1F34"/>
                </a:solidFill>
              </a:defRPr>
            </a:pPr>
            <a:r>
              <a:t>Added the PAM Piece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0288" y="1984248"/>
            <a:ext cx="304495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72D36"/>
                </a:solidFill>
              </a:defRPr>
            </a:pPr>
            <a:r>
              <a:t>I extended that into request, admin approval, temporary elevation, expiration, revocation, and auditing.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417320"/>
            <a:ext cx="3429000" cy="1554480"/>
          </a:xfrm>
          <a:prstGeom prst="roundRect">
            <a:avLst/>
          </a:prstGeom>
          <a:solidFill>
            <a:srgbClr val="F5F7FA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20" y="1417320"/>
            <a:ext cx="73152" cy="1554480"/>
          </a:xfrm>
          <a:prstGeom prst="rect">
            <a:avLst/>
          </a:prstGeom>
          <a:solidFill>
            <a:srgbClr val="329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47888" y="1554480"/>
            <a:ext cx="3063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1F34"/>
                </a:solidFill>
              </a:defRPr>
            </a:pPr>
            <a:r>
              <a:t>Tested It End to 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47888" y="1984248"/>
            <a:ext cx="304495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72D36"/>
                </a:solidFill>
              </a:defRPr>
            </a:pPr>
            <a:r>
              <a:t>Playwright proves both the allowed path and the security controls that should block access.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977639"/>
            <a:ext cx="102412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“The JWT tells me who the user is. The database tells me what that user is allowed to do right now.”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5349240"/>
            <a:ext cx="8503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C7D8EC"/>
                </a:solidFill>
              </a:defRPr>
            </a:pPr>
            <a:r>
              <a:t>That is the main security behavior I wanted this project to prove.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